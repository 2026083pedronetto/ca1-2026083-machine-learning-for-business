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varScale="1">
        <p:scale>
          <a:sx n="16" d="100"/>
          <a:sy n="16" d="100"/>
        </p:scale>
        <p:origin x="1867" y="91"/>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10/30/2026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‹nº›</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10/30/2026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‹nº›</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43891200" cy="4754880"/>
          </a:xfrm>
          <a:prstGeom prst="roundRect">
            <a:avLst/>
          </a:prstGeom>
          <a:solidFill>
            <a:srgbClr val="41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800"/>
          </a:p>
        </p:txBody>
      </p:sp>
      <p:sp>
        <p:nvSpPr>
          <p:cNvPr id="3" name="TextBox 2"/>
          <p:cNvSpPr txBox="1"/>
          <p:nvPr/>
        </p:nvSpPr>
        <p:spPr>
          <a:xfrm>
            <a:off x="914400" y="502920"/>
            <a:ext cx="42062400" cy="1200329"/>
          </a:xfrm>
          <a:prstGeom prst="rect">
            <a:avLst/>
          </a:prstGeom>
          <a:noFill/>
        </p:spPr>
        <p:txBody>
          <a:bodyPr wrap="square">
            <a:spAutoFit/>
          </a:bodyPr>
          <a:lstStyle/>
          <a:p>
            <a:pPr algn="ctr">
              <a:spcAft>
                <a:spcPts val="1200"/>
              </a:spcAft>
              <a:defRPr sz="4900" b="1">
                <a:solidFill>
                  <a:srgbClr val="FFFFFF"/>
                </a:solidFill>
                <a:latin typeface="Aptos"/>
              </a:defRPr>
            </a:pPr>
            <a:r>
              <a:rPr sz="7200"/>
              <a:t>UNDERSTANDING BIKE-SHARING DEMAND</a:t>
            </a:r>
          </a:p>
        </p:txBody>
      </p:sp>
      <p:sp>
        <p:nvSpPr>
          <p:cNvPr id="4" name="TextBox 3"/>
          <p:cNvSpPr txBox="1"/>
          <p:nvPr/>
        </p:nvSpPr>
        <p:spPr>
          <a:xfrm>
            <a:off x="914400" y="2560320"/>
            <a:ext cx="42062400" cy="1015663"/>
          </a:xfrm>
          <a:prstGeom prst="rect">
            <a:avLst/>
          </a:prstGeom>
          <a:noFill/>
        </p:spPr>
        <p:txBody>
          <a:bodyPr wrap="square">
            <a:spAutoFit/>
          </a:bodyPr>
          <a:lstStyle/>
          <a:p>
            <a:pPr algn="ctr">
              <a:spcAft>
                <a:spcPts val="1200"/>
              </a:spcAft>
              <a:defRPr sz="2500" b="0">
                <a:solidFill>
                  <a:srgbClr val="FFFFFF"/>
                </a:solidFill>
                <a:latin typeface="Aptos"/>
              </a:defRPr>
            </a:pPr>
            <a:r>
              <a:rPr sz="6000" dirty="0"/>
              <a:t>Pedro Netto (2026083)  |  Machine Learning for Business  |  CCT College Dublin</a:t>
            </a:r>
            <a:r>
              <a:rPr lang="en-GB" sz="6000" dirty="0"/>
              <a:t>, October 2026</a:t>
            </a:r>
            <a:endParaRPr sz="6000" dirty="0"/>
          </a:p>
        </p:txBody>
      </p:sp>
      <p:sp>
        <p:nvSpPr>
          <p:cNvPr id="5" name="Rounded Rectangle 4"/>
          <p:cNvSpPr/>
          <p:nvPr/>
        </p:nvSpPr>
        <p:spPr>
          <a:xfrm>
            <a:off x="457200" y="5166360"/>
            <a:ext cx="10424160" cy="932688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394960"/>
            <a:ext cx="978408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ABSTRACT &amp; RESEARCH QUESTION</a:t>
            </a:r>
          </a:p>
        </p:txBody>
      </p:sp>
      <p:sp>
        <p:nvSpPr>
          <p:cNvPr id="7" name="TextBox 6"/>
          <p:cNvSpPr txBox="1"/>
          <p:nvPr/>
        </p:nvSpPr>
        <p:spPr>
          <a:xfrm>
            <a:off x="868680" y="6263640"/>
            <a:ext cx="9601200" cy="5386090"/>
          </a:xfrm>
          <a:prstGeom prst="rect">
            <a:avLst/>
          </a:prstGeom>
          <a:noFill/>
        </p:spPr>
        <p:txBody>
          <a:bodyPr wrap="square">
            <a:spAutoFit/>
          </a:bodyPr>
          <a:lstStyle/>
          <a:p>
            <a:pPr algn="ctr">
              <a:spcAft>
                <a:spcPts val="1200"/>
              </a:spcAft>
              <a:defRPr sz="2100" b="0">
                <a:solidFill>
                  <a:srgbClr val="202D41"/>
                </a:solidFill>
                <a:latin typeface="Aptos"/>
              </a:defRPr>
            </a:pPr>
            <a:r>
              <a:rPr sz="3600" dirty="0"/>
              <a:t>This project explores bike-sharing demand using clustering and time-series forecasting. The aim is to understand how rentals change across time and conditions, and how accurately daily demand can be forecast.</a:t>
            </a:r>
          </a:p>
          <a:p>
            <a:pPr algn="ctr">
              <a:spcAft>
                <a:spcPts val="1200"/>
              </a:spcAft>
              <a:defRPr sz="2100" b="0">
                <a:solidFill>
                  <a:srgbClr val="202D41"/>
                </a:solidFill>
                <a:latin typeface="Aptos"/>
              </a:defRPr>
            </a:pPr>
            <a:endParaRPr sz="3600" dirty="0"/>
          </a:p>
          <a:p>
            <a:pPr algn="ctr">
              <a:spcAft>
                <a:spcPts val="1200"/>
              </a:spcAft>
              <a:defRPr sz="2100" b="0">
                <a:solidFill>
                  <a:srgbClr val="202D41"/>
                </a:solidFill>
                <a:latin typeface="Aptos"/>
              </a:defRPr>
            </a:pPr>
            <a:r>
              <a:rPr sz="3600" dirty="0"/>
              <a:t>Research question: What demand patterns can be identified, and which forecasting approach performs better?</a:t>
            </a:r>
          </a:p>
        </p:txBody>
      </p:sp>
      <p:sp>
        <p:nvSpPr>
          <p:cNvPr id="8" name="Rounded Rectangle 7"/>
          <p:cNvSpPr/>
          <p:nvPr/>
        </p:nvSpPr>
        <p:spPr>
          <a:xfrm>
            <a:off x="457200" y="14813280"/>
            <a:ext cx="10424160" cy="786384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41880"/>
            <a:ext cx="9784080" cy="646331"/>
          </a:xfrm>
          <a:prstGeom prst="rect">
            <a:avLst/>
          </a:prstGeom>
          <a:noFill/>
        </p:spPr>
        <p:txBody>
          <a:bodyPr wrap="square">
            <a:spAutoFit/>
          </a:bodyPr>
          <a:lstStyle/>
          <a:p>
            <a:pPr algn="ctr">
              <a:spcAft>
                <a:spcPts val="1200"/>
              </a:spcAft>
              <a:defRPr sz="2500" b="1">
                <a:solidFill>
                  <a:srgbClr val="38558E"/>
                </a:solidFill>
                <a:latin typeface="Aptos"/>
              </a:defRPr>
            </a:pPr>
            <a:r>
              <a:rPr sz="3600"/>
              <a:t>DATASET &amp; OBJECTIVES</a:t>
            </a:r>
          </a:p>
        </p:txBody>
      </p:sp>
      <p:sp>
        <p:nvSpPr>
          <p:cNvPr id="10" name="TextBox 9"/>
          <p:cNvSpPr txBox="1"/>
          <p:nvPr/>
        </p:nvSpPr>
        <p:spPr>
          <a:xfrm>
            <a:off x="868680" y="15910559"/>
            <a:ext cx="9601200" cy="4278094"/>
          </a:xfrm>
          <a:prstGeom prst="rect">
            <a:avLst/>
          </a:prstGeom>
          <a:noFill/>
        </p:spPr>
        <p:txBody>
          <a:bodyPr wrap="square">
            <a:spAutoFit/>
          </a:bodyPr>
          <a:lstStyle/>
          <a:p>
            <a:pPr algn="ctr">
              <a:spcAft>
                <a:spcPts val="1200"/>
              </a:spcAft>
              <a:defRPr sz="2000" b="0">
                <a:solidFill>
                  <a:srgbClr val="202D41"/>
                </a:solidFill>
                <a:latin typeface="Aptos"/>
              </a:defRPr>
            </a:pPr>
            <a:r>
              <a:rPr sz="3600" dirty="0"/>
              <a:t>UCI Bike Sharing Dataset: 17,379 hourly observations from 2011–2012. No missing or duplicate records; 731 daily totals.</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Objectives: explore demand, compare two clustering methods, evaluate a SARIMA forecast against a seasonal-naive baseline.</a:t>
            </a:r>
          </a:p>
        </p:txBody>
      </p:sp>
      <p:sp>
        <p:nvSpPr>
          <p:cNvPr id="11" name="Rounded Rectangle 10"/>
          <p:cNvSpPr/>
          <p:nvPr/>
        </p:nvSpPr>
        <p:spPr>
          <a:xfrm>
            <a:off x="457200" y="22997160"/>
            <a:ext cx="10424160" cy="909828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225760"/>
            <a:ext cx="9784080" cy="646331"/>
          </a:xfrm>
          <a:prstGeom prst="rect">
            <a:avLst/>
          </a:prstGeom>
          <a:noFill/>
        </p:spPr>
        <p:txBody>
          <a:bodyPr wrap="square">
            <a:spAutoFit/>
          </a:bodyPr>
          <a:lstStyle/>
          <a:p>
            <a:pPr algn="ctr">
              <a:spcAft>
                <a:spcPts val="1200"/>
              </a:spcAft>
              <a:defRPr sz="2500" b="1">
                <a:solidFill>
                  <a:srgbClr val="38558E"/>
                </a:solidFill>
                <a:latin typeface="Aptos"/>
              </a:defRPr>
            </a:pPr>
            <a:r>
              <a:rPr sz="3600"/>
              <a:t>BUSINESS APPLICATION</a:t>
            </a:r>
          </a:p>
        </p:txBody>
      </p:sp>
      <p:sp>
        <p:nvSpPr>
          <p:cNvPr id="13" name="TextBox 12"/>
          <p:cNvSpPr txBox="1"/>
          <p:nvPr/>
        </p:nvSpPr>
        <p:spPr>
          <a:xfrm>
            <a:off x="868680" y="24094439"/>
            <a:ext cx="9601200" cy="5693866"/>
          </a:xfrm>
          <a:prstGeom prst="rect">
            <a:avLst/>
          </a:prstGeom>
          <a:noFill/>
        </p:spPr>
        <p:txBody>
          <a:bodyPr wrap="square">
            <a:spAutoFit/>
          </a:bodyPr>
          <a:lstStyle/>
          <a:p>
            <a:pPr algn="ctr">
              <a:spcAft>
                <a:spcPts val="1200"/>
              </a:spcAft>
              <a:defRPr sz="2000" b="0">
                <a:solidFill>
                  <a:srgbClr val="202D41"/>
                </a:solidFill>
                <a:latin typeface="Aptos"/>
              </a:defRPr>
            </a:pPr>
            <a:r>
              <a:rPr sz="3600" dirty="0"/>
              <a:t>Cluster 0: ~67 rentals/hour, mainly early morning. Consider this quieter window for maintenance and redistribution.</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Cluster 2: ~406 rentals/hour, mainly afternoon. </a:t>
            </a:r>
            <a:r>
              <a:rPr sz="3600" dirty="0" err="1"/>
              <a:t>Prioritise</a:t>
            </a:r>
            <a:r>
              <a:rPr sz="3600" dirty="0"/>
              <a:t> bike availability during busy periods.</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These are planning suggestions, not station-level recommendations.</a:t>
            </a:r>
          </a:p>
        </p:txBody>
      </p:sp>
      <p:sp>
        <p:nvSpPr>
          <p:cNvPr id="14" name="Rounded Rectangle 13"/>
          <p:cNvSpPr/>
          <p:nvPr/>
        </p:nvSpPr>
        <p:spPr>
          <a:xfrm>
            <a:off x="11109960" y="5166360"/>
            <a:ext cx="10561320" cy="850392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0" y="5394960"/>
            <a:ext cx="9921240" cy="707886"/>
          </a:xfrm>
          <a:prstGeom prst="rect">
            <a:avLst/>
          </a:prstGeom>
          <a:noFill/>
        </p:spPr>
        <p:txBody>
          <a:bodyPr wrap="square">
            <a:spAutoFit/>
          </a:bodyPr>
          <a:lstStyle/>
          <a:p>
            <a:pPr algn="ctr">
              <a:spcAft>
                <a:spcPts val="1200"/>
              </a:spcAft>
              <a:defRPr sz="2500" b="1">
                <a:solidFill>
                  <a:srgbClr val="38558E"/>
                </a:solidFill>
                <a:latin typeface="Aptos"/>
              </a:defRPr>
            </a:pPr>
            <a:r>
              <a:rPr sz="4000" dirty="0"/>
              <a:t>METHODS — CLUSTERING</a:t>
            </a:r>
          </a:p>
        </p:txBody>
      </p:sp>
      <p:sp>
        <p:nvSpPr>
          <p:cNvPr id="16" name="TextBox 15"/>
          <p:cNvSpPr txBox="1"/>
          <p:nvPr/>
        </p:nvSpPr>
        <p:spPr>
          <a:xfrm>
            <a:off x="11590020" y="6377166"/>
            <a:ext cx="9738360" cy="4832092"/>
          </a:xfrm>
          <a:prstGeom prst="rect">
            <a:avLst/>
          </a:prstGeom>
          <a:noFill/>
        </p:spPr>
        <p:txBody>
          <a:bodyPr wrap="square">
            <a:spAutoFit/>
          </a:bodyPr>
          <a:lstStyle/>
          <a:p>
            <a:pPr algn="ctr">
              <a:spcAft>
                <a:spcPts val="1200"/>
              </a:spcAft>
              <a:defRPr sz="2000" b="0">
                <a:solidFill>
                  <a:srgbClr val="202D41"/>
                </a:solidFill>
                <a:latin typeface="Aptos"/>
              </a:defRPr>
            </a:pPr>
            <a:r>
              <a:rPr sz="3600" dirty="0"/>
              <a:t>Five </a:t>
            </a:r>
            <a:r>
              <a:rPr sz="3600" dirty="0" err="1"/>
              <a:t>standardised</a:t>
            </a:r>
            <a:r>
              <a:rPr sz="3600" dirty="0"/>
              <a:t> variables: hour, temperature, humidity, wind speed and rental count.</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K-Means and Agglomerative Clustering were compared at k = 4 using Silhouette and Davies–Bouldin metrics. k = 4 was chosen for interpretable demand profiles, despite k = 2 having the highest Silhouette.</a:t>
            </a:r>
          </a:p>
        </p:txBody>
      </p:sp>
      <p:sp>
        <p:nvSpPr>
          <p:cNvPr id="17" name="TextBox 16"/>
          <p:cNvSpPr txBox="1"/>
          <p:nvPr/>
        </p:nvSpPr>
        <p:spPr>
          <a:xfrm>
            <a:off x="11292840" y="13944600"/>
            <a:ext cx="10149840" cy="707886"/>
          </a:xfrm>
          <a:prstGeom prst="rect">
            <a:avLst/>
          </a:prstGeom>
          <a:noFill/>
        </p:spPr>
        <p:txBody>
          <a:bodyPr wrap="square">
            <a:spAutoFit/>
          </a:bodyPr>
          <a:lstStyle/>
          <a:p>
            <a:pPr algn="ctr">
              <a:spcAft>
                <a:spcPts val="1200"/>
              </a:spcAft>
              <a:defRPr sz="2500" b="1">
                <a:solidFill>
                  <a:srgbClr val="38558E"/>
                </a:solidFill>
                <a:latin typeface="Aptos"/>
              </a:defRPr>
            </a:pPr>
            <a:r>
              <a:rPr sz="3600" dirty="0"/>
              <a:t>CLUSTER </a:t>
            </a:r>
            <a:r>
              <a:rPr sz="4000" dirty="0"/>
              <a:t>PROFILES</a:t>
            </a:r>
            <a:endParaRPr sz="3600" dirty="0"/>
          </a:p>
        </p:txBody>
      </p:sp>
      <p:pic>
        <p:nvPicPr>
          <p:cNvPr id="18" name="Picture 17" descr="poster_cluster_chart.png"/>
          <p:cNvPicPr>
            <a:picLocks noChangeAspect="1"/>
          </p:cNvPicPr>
          <p:nvPr/>
        </p:nvPicPr>
        <p:blipFill>
          <a:blip r:embed="rId3"/>
          <a:stretch>
            <a:fillRect/>
          </a:stretch>
        </p:blipFill>
        <p:spPr>
          <a:xfrm>
            <a:off x="10789919" y="15054885"/>
            <a:ext cx="10518952" cy="5939371"/>
          </a:xfrm>
          <a:prstGeom prst="rect">
            <a:avLst/>
          </a:prstGeom>
        </p:spPr>
      </p:pic>
      <p:sp>
        <p:nvSpPr>
          <p:cNvPr id="19" name="Rounded Rectangle 18"/>
          <p:cNvSpPr/>
          <p:nvPr/>
        </p:nvSpPr>
        <p:spPr>
          <a:xfrm>
            <a:off x="11109960" y="21854160"/>
            <a:ext cx="10561320" cy="1024128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0" y="22082760"/>
            <a:ext cx="992124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CLUSTERING RESULTS</a:t>
            </a:r>
          </a:p>
        </p:txBody>
      </p:sp>
      <p:sp>
        <p:nvSpPr>
          <p:cNvPr id="21" name="TextBox 20"/>
          <p:cNvSpPr txBox="1"/>
          <p:nvPr/>
        </p:nvSpPr>
        <p:spPr>
          <a:xfrm>
            <a:off x="11521440" y="22951439"/>
            <a:ext cx="9738360" cy="6863417"/>
          </a:xfrm>
          <a:prstGeom prst="rect">
            <a:avLst/>
          </a:prstGeom>
          <a:noFill/>
        </p:spPr>
        <p:txBody>
          <a:bodyPr wrap="square">
            <a:spAutoFit/>
          </a:bodyPr>
          <a:lstStyle/>
          <a:p>
            <a:pPr algn="ctr">
              <a:spcAft>
                <a:spcPts val="1200"/>
              </a:spcAft>
              <a:defRPr sz="2000" b="0">
                <a:solidFill>
                  <a:srgbClr val="202D41"/>
                </a:solidFill>
                <a:latin typeface="Aptos"/>
              </a:defRPr>
            </a:pPr>
            <a:r>
              <a:rPr sz="3600" dirty="0"/>
              <a:t>K-Means (k = 4):</a:t>
            </a:r>
          </a:p>
          <a:p>
            <a:pPr algn="ctr">
              <a:spcAft>
                <a:spcPts val="1200"/>
              </a:spcAft>
              <a:defRPr sz="2000" b="0">
                <a:solidFill>
                  <a:srgbClr val="202D41"/>
                </a:solidFill>
                <a:latin typeface="Aptos"/>
              </a:defRPr>
            </a:pPr>
            <a:r>
              <a:rPr sz="3600" dirty="0"/>
              <a:t>Silhouette = 0.239</a:t>
            </a:r>
          </a:p>
          <a:p>
            <a:pPr algn="ctr">
              <a:spcAft>
                <a:spcPts val="1200"/>
              </a:spcAft>
              <a:defRPr sz="2000" b="0">
                <a:solidFill>
                  <a:srgbClr val="202D41"/>
                </a:solidFill>
                <a:latin typeface="Aptos"/>
              </a:defRPr>
            </a:pPr>
            <a:r>
              <a:rPr sz="3600" dirty="0"/>
              <a:t>Davies–Bouldin = 1.372</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Agglomerative (k = 4):</a:t>
            </a:r>
          </a:p>
          <a:p>
            <a:pPr algn="ctr">
              <a:spcAft>
                <a:spcPts val="1200"/>
              </a:spcAft>
              <a:defRPr sz="2000" b="0">
                <a:solidFill>
                  <a:srgbClr val="202D41"/>
                </a:solidFill>
                <a:latin typeface="Aptos"/>
              </a:defRPr>
            </a:pPr>
            <a:r>
              <a:rPr sz="3600" dirty="0"/>
              <a:t>Silhouette = 0.157</a:t>
            </a:r>
          </a:p>
          <a:p>
            <a:pPr algn="ctr">
              <a:spcAft>
                <a:spcPts val="1200"/>
              </a:spcAft>
              <a:defRPr sz="2000" b="0">
                <a:solidFill>
                  <a:srgbClr val="202D41"/>
                </a:solidFill>
                <a:latin typeface="Aptos"/>
              </a:defRPr>
            </a:pPr>
            <a:r>
              <a:rPr sz="3600" dirty="0"/>
              <a:t>Davies–Bouldin = 1.766</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K-Means performed better, but the groups were not strongly separated.</a:t>
            </a:r>
          </a:p>
        </p:txBody>
      </p:sp>
      <p:sp>
        <p:nvSpPr>
          <p:cNvPr id="22" name="Rounded Rectangle 21"/>
          <p:cNvSpPr/>
          <p:nvPr/>
        </p:nvSpPr>
        <p:spPr>
          <a:xfrm>
            <a:off x="21899880" y="5166360"/>
            <a:ext cx="10607040" cy="850392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219920" y="5394960"/>
            <a:ext cx="9966960" cy="707886"/>
          </a:xfrm>
          <a:prstGeom prst="rect">
            <a:avLst/>
          </a:prstGeom>
          <a:noFill/>
        </p:spPr>
        <p:txBody>
          <a:bodyPr wrap="square">
            <a:spAutoFit/>
          </a:bodyPr>
          <a:lstStyle/>
          <a:p>
            <a:pPr algn="ctr">
              <a:spcAft>
                <a:spcPts val="1200"/>
              </a:spcAft>
              <a:defRPr sz="2500" b="1">
                <a:solidFill>
                  <a:srgbClr val="38558E"/>
                </a:solidFill>
                <a:latin typeface="Aptos"/>
              </a:defRPr>
            </a:pPr>
            <a:r>
              <a:rPr sz="4000"/>
              <a:t>METHODS — FORECASTING</a:t>
            </a:r>
          </a:p>
        </p:txBody>
      </p:sp>
      <p:sp>
        <p:nvSpPr>
          <p:cNvPr id="24" name="TextBox 23"/>
          <p:cNvSpPr txBox="1"/>
          <p:nvPr/>
        </p:nvSpPr>
        <p:spPr>
          <a:xfrm>
            <a:off x="22311360" y="6263640"/>
            <a:ext cx="9784080" cy="4832092"/>
          </a:xfrm>
          <a:prstGeom prst="rect">
            <a:avLst/>
          </a:prstGeom>
          <a:noFill/>
        </p:spPr>
        <p:txBody>
          <a:bodyPr wrap="square">
            <a:spAutoFit/>
          </a:bodyPr>
          <a:lstStyle/>
          <a:p>
            <a:pPr algn="ctr">
              <a:spcAft>
                <a:spcPts val="1200"/>
              </a:spcAft>
              <a:defRPr sz="2000" b="0">
                <a:solidFill>
                  <a:srgbClr val="202D41"/>
                </a:solidFill>
                <a:latin typeface="Aptos"/>
              </a:defRPr>
            </a:pPr>
            <a:r>
              <a:rPr sz="3600"/>
              <a:t>Hourly rentals were aggregated into daily totals. The chronological split used 584 days for training and 147 days for testing.</a:t>
            </a:r>
          </a:p>
          <a:p>
            <a:pPr algn="ctr">
              <a:spcAft>
                <a:spcPts val="1200"/>
              </a:spcAft>
              <a:defRPr sz="2000" b="0">
                <a:solidFill>
                  <a:srgbClr val="202D41"/>
                </a:solidFill>
                <a:latin typeface="Aptos"/>
              </a:defRPr>
            </a:pPr>
            <a:endParaRPr sz="3600"/>
          </a:p>
          <a:p>
            <a:pPr algn="ctr">
              <a:spcAft>
                <a:spcPts val="1200"/>
              </a:spcAft>
              <a:defRPr sz="2000" b="0">
                <a:solidFill>
                  <a:srgbClr val="202D41"/>
                </a:solidFill>
                <a:latin typeface="Aptos"/>
              </a:defRPr>
            </a:pPr>
            <a:r>
              <a:rPr sz="3600"/>
              <a:t>Four SARIMA candidates were assessed on validation RMSE. SARIMA(1,1,1) × (1,1,1,7) was selected and compared with a seasonal-naive benchmark.</a:t>
            </a:r>
          </a:p>
        </p:txBody>
      </p:sp>
      <p:sp>
        <p:nvSpPr>
          <p:cNvPr id="25" name="TextBox 24"/>
          <p:cNvSpPr txBox="1"/>
          <p:nvPr/>
        </p:nvSpPr>
        <p:spPr>
          <a:xfrm>
            <a:off x="22037040" y="13944600"/>
            <a:ext cx="1014984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FORECAST ERROR COMPARISON</a:t>
            </a:r>
          </a:p>
        </p:txBody>
      </p:sp>
      <p:pic>
        <p:nvPicPr>
          <p:cNvPr id="26" name="Picture 25" descr="poster_forecast_chart.png"/>
          <p:cNvPicPr>
            <a:picLocks noChangeAspect="1"/>
          </p:cNvPicPr>
          <p:nvPr/>
        </p:nvPicPr>
        <p:blipFill>
          <a:blip r:embed="rId4"/>
          <a:stretch>
            <a:fillRect/>
          </a:stretch>
        </p:blipFill>
        <p:spPr>
          <a:xfrm>
            <a:off x="21067070" y="14647662"/>
            <a:ext cx="11782749" cy="6112609"/>
          </a:xfrm>
          <a:prstGeom prst="rect">
            <a:avLst/>
          </a:prstGeom>
        </p:spPr>
      </p:pic>
      <p:sp>
        <p:nvSpPr>
          <p:cNvPr id="27" name="Rounded Rectangle 26"/>
          <p:cNvSpPr/>
          <p:nvPr/>
        </p:nvSpPr>
        <p:spPr>
          <a:xfrm>
            <a:off x="21899880" y="21854160"/>
            <a:ext cx="10607040" cy="1024128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219920" y="22082760"/>
            <a:ext cx="9966960" cy="646331"/>
          </a:xfrm>
          <a:prstGeom prst="rect">
            <a:avLst/>
          </a:prstGeom>
          <a:noFill/>
        </p:spPr>
        <p:txBody>
          <a:bodyPr wrap="square">
            <a:spAutoFit/>
          </a:bodyPr>
          <a:lstStyle/>
          <a:p>
            <a:pPr algn="ctr">
              <a:spcAft>
                <a:spcPts val="1200"/>
              </a:spcAft>
              <a:defRPr sz="2500" b="1">
                <a:solidFill>
                  <a:srgbClr val="38558E"/>
                </a:solidFill>
                <a:latin typeface="Aptos"/>
              </a:defRPr>
            </a:pPr>
            <a:r>
              <a:rPr sz="3600"/>
              <a:t>FORECAST FINDINGS</a:t>
            </a:r>
          </a:p>
        </p:txBody>
      </p:sp>
      <p:sp>
        <p:nvSpPr>
          <p:cNvPr id="29" name="TextBox 28"/>
          <p:cNvSpPr txBox="1"/>
          <p:nvPr/>
        </p:nvSpPr>
        <p:spPr>
          <a:xfrm>
            <a:off x="22311360" y="22951439"/>
            <a:ext cx="9784080" cy="6555641"/>
          </a:xfrm>
          <a:prstGeom prst="rect">
            <a:avLst/>
          </a:prstGeom>
          <a:noFill/>
        </p:spPr>
        <p:txBody>
          <a:bodyPr wrap="square">
            <a:spAutoFit/>
          </a:bodyPr>
          <a:lstStyle/>
          <a:p>
            <a:pPr algn="ctr">
              <a:spcAft>
                <a:spcPts val="1200"/>
              </a:spcAft>
              <a:defRPr sz="1900" b="0">
                <a:solidFill>
                  <a:srgbClr val="202D41"/>
                </a:solidFill>
                <a:latin typeface="Aptos"/>
              </a:defRPr>
            </a:pPr>
            <a:r>
              <a:rPr sz="3600" dirty="0"/>
              <a:t>SARIMA test errors:</a:t>
            </a:r>
          </a:p>
          <a:p>
            <a:pPr algn="ctr">
              <a:spcAft>
                <a:spcPts val="1200"/>
              </a:spcAft>
              <a:defRPr sz="1900" b="0">
                <a:solidFill>
                  <a:srgbClr val="202D41"/>
                </a:solidFill>
                <a:latin typeface="Aptos"/>
              </a:defRPr>
            </a:pPr>
            <a:r>
              <a:rPr sz="3600" dirty="0"/>
              <a:t>MAE = 2,034 | RMSE = 2,859</a:t>
            </a:r>
          </a:p>
          <a:p>
            <a:pPr algn="ctr">
              <a:spcAft>
                <a:spcPts val="1200"/>
              </a:spcAft>
              <a:defRPr sz="1900" b="0">
                <a:solidFill>
                  <a:srgbClr val="202D41"/>
                </a:solidFill>
                <a:latin typeface="Aptos"/>
              </a:defRPr>
            </a:pPr>
            <a:endParaRPr sz="3600" dirty="0"/>
          </a:p>
          <a:p>
            <a:pPr algn="ctr">
              <a:spcAft>
                <a:spcPts val="1200"/>
              </a:spcAft>
              <a:defRPr sz="1900" b="0">
                <a:solidFill>
                  <a:srgbClr val="202D41"/>
                </a:solidFill>
                <a:latin typeface="Aptos"/>
              </a:defRPr>
            </a:pPr>
            <a:r>
              <a:rPr sz="3600" dirty="0"/>
              <a:t>Seasonal-naive test errors:</a:t>
            </a:r>
          </a:p>
          <a:p>
            <a:pPr algn="ctr">
              <a:spcAft>
                <a:spcPts val="1200"/>
              </a:spcAft>
              <a:defRPr sz="1900" b="0">
                <a:solidFill>
                  <a:srgbClr val="202D41"/>
                </a:solidFill>
                <a:latin typeface="Aptos"/>
              </a:defRPr>
            </a:pPr>
            <a:r>
              <a:rPr sz="3600" dirty="0"/>
              <a:t>MAE = 1,506 | RMSE = 2,137</a:t>
            </a:r>
          </a:p>
          <a:p>
            <a:pPr algn="ctr">
              <a:spcAft>
                <a:spcPts val="1200"/>
              </a:spcAft>
              <a:defRPr sz="1900" b="0">
                <a:solidFill>
                  <a:srgbClr val="202D41"/>
                </a:solidFill>
                <a:latin typeface="Aptos"/>
              </a:defRPr>
            </a:pPr>
            <a:endParaRPr sz="3600" dirty="0"/>
          </a:p>
          <a:p>
            <a:pPr algn="ctr">
              <a:spcAft>
                <a:spcPts val="1200"/>
              </a:spcAft>
              <a:defRPr sz="1900" b="0">
                <a:solidFill>
                  <a:srgbClr val="202D41"/>
                </a:solidFill>
                <a:latin typeface="Aptos"/>
              </a:defRPr>
            </a:pPr>
            <a:r>
              <a:rPr sz="3600" dirty="0"/>
              <a:t>The simple baseline was more accurate. SARIMA over-forecast on average (residual ≈ −1,849). A day with only 22 rentals made MAPE sensitive to low values.</a:t>
            </a:r>
          </a:p>
        </p:txBody>
      </p:sp>
      <p:sp>
        <p:nvSpPr>
          <p:cNvPr id="30" name="Rounded Rectangle 29"/>
          <p:cNvSpPr/>
          <p:nvPr/>
        </p:nvSpPr>
        <p:spPr>
          <a:xfrm>
            <a:off x="32735519" y="5166360"/>
            <a:ext cx="10698480" cy="1028700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055560" y="5394960"/>
            <a:ext cx="1005840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CONCLUSIONS</a:t>
            </a:r>
          </a:p>
        </p:txBody>
      </p:sp>
      <p:sp>
        <p:nvSpPr>
          <p:cNvPr id="32" name="TextBox 31"/>
          <p:cNvSpPr txBox="1"/>
          <p:nvPr/>
        </p:nvSpPr>
        <p:spPr>
          <a:xfrm>
            <a:off x="33147000" y="6263640"/>
            <a:ext cx="9875519" cy="7355860"/>
          </a:xfrm>
          <a:prstGeom prst="rect">
            <a:avLst/>
          </a:prstGeom>
          <a:noFill/>
        </p:spPr>
        <p:txBody>
          <a:bodyPr wrap="square">
            <a:spAutoFit/>
          </a:bodyPr>
          <a:lstStyle/>
          <a:p>
            <a:pPr algn="ctr">
              <a:spcAft>
                <a:spcPts val="1200"/>
              </a:spcAft>
              <a:defRPr sz="2000" b="0">
                <a:solidFill>
                  <a:srgbClr val="202D41"/>
                </a:solidFill>
                <a:latin typeface="Aptos"/>
              </a:defRPr>
            </a:pPr>
            <a:r>
              <a:rPr sz="3600" dirty="0"/>
              <a:t>The clustering analysis identified four useful demand profiles. K-Means had stronger metrics, although separation was modest.</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The SARIMA model did not outperform the seasonal-naive forecast on the final test period. More complex models are not always more accurate.</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A business should test these insights using newer and station-level data before making operational decisions.</a:t>
            </a:r>
          </a:p>
        </p:txBody>
      </p:sp>
      <p:sp>
        <p:nvSpPr>
          <p:cNvPr id="33" name="Rounded Rectangle 32"/>
          <p:cNvSpPr/>
          <p:nvPr/>
        </p:nvSpPr>
        <p:spPr>
          <a:xfrm>
            <a:off x="32735519" y="15727680"/>
            <a:ext cx="10698480" cy="914400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055560" y="15956280"/>
            <a:ext cx="1005840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LIMITATIONS</a:t>
            </a:r>
          </a:p>
        </p:txBody>
      </p:sp>
      <p:sp>
        <p:nvSpPr>
          <p:cNvPr id="35" name="TextBox 34"/>
          <p:cNvSpPr txBox="1"/>
          <p:nvPr/>
        </p:nvSpPr>
        <p:spPr>
          <a:xfrm>
            <a:off x="33147000" y="16824960"/>
            <a:ext cx="9875519" cy="6801862"/>
          </a:xfrm>
          <a:prstGeom prst="rect">
            <a:avLst/>
          </a:prstGeom>
          <a:noFill/>
        </p:spPr>
        <p:txBody>
          <a:bodyPr wrap="square">
            <a:spAutoFit/>
          </a:bodyPr>
          <a:lstStyle/>
          <a:p>
            <a:pPr algn="ctr">
              <a:spcAft>
                <a:spcPts val="1200"/>
              </a:spcAft>
              <a:defRPr sz="2000" b="0">
                <a:solidFill>
                  <a:srgbClr val="202D41"/>
                </a:solidFill>
                <a:latin typeface="Aptos"/>
              </a:defRPr>
            </a:pPr>
            <a:r>
              <a:rPr sz="3600" dirty="0"/>
              <a:t>Rental count was included in clustering, so the profiles describe demand rather than predict it independently.</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The forecast covered 147 days without updating the model. The dataset is historical (2011–2012), and unusual low-demand days can affect percentage errors.</a:t>
            </a:r>
          </a:p>
          <a:p>
            <a:pPr algn="ctr">
              <a:spcAft>
                <a:spcPts val="1200"/>
              </a:spcAft>
              <a:defRPr sz="2000" b="0">
                <a:solidFill>
                  <a:srgbClr val="202D41"/>
                </a:solidFill>
                <a:latin typeface="Aptos"/>
              </a:defRPr>
            </a:pPr>
            <a:endParaRPr sz="3600" dirty="0"/>
          </a:p>
          <a:p>
            <a:pPr algn="ctr">
              <a:spcAft>
                <a:spcPts val="1200"/>
              </a:spcAft>
              <a:defRPr sz="2000" b="0">
                <a:solidFill>
                  <a:srgbClr val="202D41"/>
                </a:solidFill>
                <a:latin typeface="Aptos"/>
              </a:defRPr>
            </a:pPr>
            <a:r>
              <a:rPr sz="3600" dirty="0"/>
              <a:t>The Sandy event is a possible explanation for 29 Oct 2012, not proven causation.</a:t>
            </a:r>
          </a:p>
        </p:txBody>
      </p:sp>
      <p:sp>
        <p:nvSpPr>
          <p:cNvPr id="36" name="Rounded Rectangle 35"/>
          <p:cNvSpPr/>
          <p:nvPr/>
        </p:nvSpPr>
        <p:spPr>
          <a:xfrm>
            <a:off x="32735519" y="25191720"/>
            <a:ext cx="10698480" cy="6903720"/>
          </a:xfrm>
          <a:prstGeom prst="roundRect">
            <a:avLst/>
          </a:prstGeom>
          <a:solidFill>
            <a:srgbClr val="EE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3055560" y="25420320"/>
            <a:ext cx="10058400" cy="646331"/>
          </a:xfrm>
          <a:prstGeom prst="rect">
            <a:avLst/>
          </a:prstGeom>
          <a:noFill/>
        </p:spPr>
        <p:txBody>
          <a:bodyPr wrap="square">
            <a:spAutoFit/>
          </a:bodyPr>
          <a:lstStyle/>
          <a:p>
            <a:pPr algn="ctr">
              <a:spcAft>
                <a:spcPts val="1200"/>
              </a:spcAft>
              <a:defRPr sz="2500" b="1">
                <a:solidFill>
                  <a:srgbClr val="38558E"/>
                </a:solidFill>
                <a:latin typeface="Aptos"/>
              </a:defRPr>
            </a:pPr>
            <a:r>
              <a:rPr sz="3600" dirty="0"/>
              <a:t>REFERENCES</a:t>
            </a:r>
          </a:p>
        </p:txBody>
      </p:sp>
      <p:sp>
        <p:nvSpPr>
          <p:cNvPr id="38" name="TextBox 37"/>
          <p:cNvSpPr txBox="1"/>
          <p:nvPr/>
        </p:nvSpPr>
        <p:spPr>
          <a:xfrm>
            <a:off x="33147000" y="26289000"/>
            <a:ext cx="9875519" cy="3293209"/>
          </a:xfrm>
          <a:prstGeom prst="rect">
            <a:avLst/>
          </a:prstGeom>
          <a:noFill/>
        </p:spPr>
        <p:txBody>
          <a:bodyPr wrap="square">
            <a:spAutoFit/>
          </a:bodyPr>
          <a:lstStyle/>
          <a:p>
            <a:pPr algn="l">
              <a:spcAft>
                <a:spcPts val="1200"/>
              </a:spcAft>
              <a:defRPr sz="1600" b="0">
                <a:solidFill>
                  <a:srgbClr val="202D41"/>
                </a:solidFill>
                <a:latin typeface="Aptos"/>
              </a:defRPr>
            </a:pPr>
            <a:r>
              <a:rPr sz="2400" dirty="0" err="1"/>
              <a:t>Fanaee</a:t>
            </a:r>
            <a:r>
              <a:rPr sz="2400" dirty="0"/>
              <a:t>-T, H. and Gama, J. (2014) “Event labeling combining ensemble detectors and background knowledge”. Progress in Artificial Intelligence.</a:t>
            </a:r>
          </a:p>
          <a:p>
            <a:pPr algn="l">
              <a:spcAft>
                <a:spcPts val="1200"/>
              </a:spcAft>
              <a:defRPr sz="1600" b="0">
                <a:solidFill>
                  <a:srgbClr val="202D41"/>
                </a:solidFill>
                <a:latin typeface="Aptos"/>
              </a:defRPr>
            </a:pPr>
            <a:endParaRPr sz="2400" dirty="0"/>
          </a:p>
          <a:p>
            <a:pPr algn="l">
              <a:spcAft>
                <a:spcPts val="1200"/>
              </a:spcAft>
              <a:defRPr sz="1600" b="0">
                <a:solidFill>
                  <a:srgbClr val="202D41"/>
                </a:solidFill>
                <a:latin typeface="Aptos"/>
              </a:defRPr>
            </a:pPr>
            <a:r>
              <a:rPr sz="2400" dirty="0"/>
              <a:t>UCI Machine Learning Repository (n.d.) Bike Sharing Dataset.</a:t>
            </a:r>
          </a:p>
          <a:p>
            <a:pPr algn="l">
              <a:spcAft>
                <a:spcPts val="1200"/>
              </a:spcAft>
              <a:defRPr sz="1600" b="0">
                <a:solidFill>
                  <a:srgbClr val="202D41"/>
                </a:solidFill>
                <a:latin typeface="Aptos"/>
              </a:defRPr>
            </a:pPr>
            <a:endParaRPr sz="2400" dirty="0"/>
          </a:p>
          <a:p>
            <a:pPr algn="l">
              <a:spcAft>
                <a:spcPts val="1200"/>
              </a:spcAft>
              <a:defRPr sz="1600" b="0">
                <a:solidFill>
                  <a:srgbClr val="202D41"/>
                </a:solidFill>
                <a:latin typeface="Aptos"/>
              </a:defRPr>
            </a:pPr>
            <a:r>
              <a:rPr sz="2400" dirty="0"/>
              <a:t>National Hurricane Center (2012) Post-Tropical Cyclone Sandy: Tropical Cyclone Update.</a:t>
            </a:r>
          </a:p>
        </p:txBody>
      </p:sp>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3461</TotalTime>
  <Words>554</Words>
  <Application>Microsoft Office PowerPoint</Application>
  <PresentationFormat>Personalizar</PresentationFormat>
  <Paragraphs>63</Paragraphs>
  <Slides>1</Slides>
  <Notes>1</Notes>
  <HiddenSlides>0</HiddenSlides>
  <MMClips>0</MMClips>
  <ScaleCrop>false</ScaleCrop>
  <HeadingPairs>
    <vt:vector size="8" baseType="variant">
      <vt:variant>
        <vt:lpstr>Fontes usadas</vt:lpstr>
      </vt:variant>
      <vt:variant>
        <vt:i4>4</vt:i4>
      </vt:variant>
      <vt:variant>
        <vt:lpstr>Tema</vt:lpstr>
      </vt:variant>
      <vt:variant>
        <vt:i4>3</vt:i4>
      </vt:variant>
      <vt:variant>
        <vt:lpstr>Servidores OLE inseridos</vt:lpstr>
      </vt:variant>
      <vt:variant>
        <vt:i4>1</vt:i4>
      </vt:variant>
      <vt:variant>
        <vt:lpstr>Títulos de slides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Apresentação do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Pedro Henrique Rodrigues de Andrade Netto</cp:lastModifiedBy>
  <cp:revision>121</cp:revision>
  <dcterms:created xsi:type="dcterms:W3CDTF">2012-02-03T19:11:35Z</dcterms:created>
  <dcterms:modified xsi:type="dcterms:W3CDTF">2026-10-30T14:08:12Z</dcterms:modified>
</cp:coreProperties>
</file>